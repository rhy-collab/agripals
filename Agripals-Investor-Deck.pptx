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23"/>
    <p:sldId id="273" r:id="rId24"/>
    <p:sldId id="263" r:id="rId9"/>
    <p:sldId id="264" r:id="rId10"/>
    <p:sldId id="270" r:id="rId21"/>
    <p:sldId id="271" r:id="rId22"/>
    <p:sldId id="265" r:id="rId11"/>
    <p:sldId id="266" r:id="rId12"/>
    <p:sldId id="267" r:id="rId13"/>
    <p:sldId id="268" r:id="rId14"/>
    <p:sldId id="274" r:id="rId25"/>
    <p:sldId id="275" r:id="rId26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2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463040"/>
            <a:ext cx="6858000" cy="6858000"/>
          </a:xfrm>
          <a:prstGeom prst="ellipse">
            <a:avLst/>
          </a:prstGeom>
          <a:solidFill>
            <a:srgbClr val="12261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ONLINE-ONLY · AI-NATIVE FOOD WHOLESALER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chef's AI buyer,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the farm.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online-only, AI-native food wholesaler. Agripals connects restaurants directly with the farms that grow, catch and grade their food — all over text — cutting the markup and rebuilding the route from farm to plate.</a:t>
            </a:r>
            <a:endParaRPr lang="en-US" sz="1650" dirty="0"/>
          </a:p>
        </p:txBody>
      </p:sp>
      <p:pic>
        <p:nvPicPr>
          <p:cNvPr id="6" name="Image 0" descr="/sessions/relaxed-dazzling-mccarthy/mnt/Agripals/assets/agripal-mascot/transparent-sizes/agripal-green-transparent-10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965960"/>
            <a:ext cx="320040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6217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chain is opaque by design.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farm and the kitchen sits a chain of wholesalers, importers and exporters. Each one adds cost. Few add real value. And the people profiting from the markup have every reason to keep the whole system opaque.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often pays close to twice what the farmer actually receives — with the gap disappearing into handling, re-handling and brokerage nobody can see.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965960"/>
            <a:ext cx="3749040" cy="3108960"/>
          </a:xfrm>
          <a:prstGeom prst="roundRect">
            <a:avLst>
              <a:gd name="adj" fmla="val 4118"/>
            </a:avLst>
          </a:prstGeom>
          <a:solidFill>
            <a:srgbClr val="123024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2331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≈2×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777240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restaurant pays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what the farmer is paid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C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lives in the middle — not on the farm, not in the kitchen.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“Sunlight is the best transparency.”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first-principles: remove the middlemen that add cost without value, then use AI to coordinate the work directly — driving the true cost of food from 2 to 1 to 0.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9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middleman, the restaurant pays close to twice what the farmer receives.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</p:sp>
      <p:sp>
        <p:nvSpPr>
          <p:cNvPr id="10" name="Text 8"/>
          <p:cNvSpPr/>
          <p:nvPr/>
        </p:nvSpPr>
        <p:spPr>
          <a:xfrm>
            <a:off x="4334256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334256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2856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farmer-to-restaurant pushes price toward the real cost of growing, handling and moving food.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</p:sp>
      <p:sp>
        <p:nvSpPr>
          <p:cNvPr id="14" name="Text 12"/>
          <p:cNvSpPr/>
          <p:nvPr/>
        </p:nvSpPr>
        <p:spPr>
          <a:xfrm>
            <a:off x="8010144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8010144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Robotics, autonomous/solar trucking and AI logistics strip the cost of food toward zero.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an oyster actually cost?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a chain of brokers, exporters, importers and wholesalers quote. The real number is the cost to grow it, grade it, pack it, move it cold — and pay the farmer fairly. Agripals starts from that number and rebuilds the supply chain around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52360" y="2148840"/>
            <a:ext cx="4069080" cy="2651760"/>
          </a:xfrm>
          <a:prstGeom prst="roundRect">
            <a:avLst>
              <a:gd name="adj" fmla="val 4828"/>
            </a:avLst>
          </a:prstGeom>
          <a:solidFill>
            <a:srgbClr val="DCEFE1"/>
          </a:solidFill>
          <a:ln w="12700">
            <a:solidFill>
              <a:srgbClr val="BFE0CB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2468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019" y="26224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32461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front-end that exposes the true route and true cost of food — then makes the direct route easy enough for busy kitchens and small farms to actually use.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a photo of your menu.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 reads what a kitchen already buys, spots the items it can source straight from a farm, and cuts the cost on those items — often by 5–20%. No portals, no order forms.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3886200"/>
            <a:ext cx="52120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3968496"/>
            <a:ext cx="402336" cy="402336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4065057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3886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20-second menu scan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8368" y="4599432"/>
            <a:ext cx="52120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68096" y="4681728"/>
            <a:ext cx="402336" cy="402336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57" y="4778289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4168" y="459943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Farm-direct pricing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58368" y="5312664"/>
            <a:ext cx="521208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68096" y="5394960"/>
            <a:ext cx="402336" cy="402336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5491521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53126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app ready</a:t>
            </a:r>
            <a:endParaRPr lang="en-US" sz="1450" dirty="0"/>
          </a:p>
        </p:txBody>
      </p:sp>
      <p:pic>
        <p:nvPicPr>
          <p:cNvPr id="17" name="Image 3" descr="/sessions/relaxed-dazzling-mccarthy/mnt/Agripals/assets/agripal-mascot/transparent-sizes/agripal-green-transparent-1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148840"/>
            <a:ext cx="3383280" cy="33832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chefs say yes.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658368" cy="658368"/>
          </a:xfrm>
          <a:prstGeom prst="ellipse">
            <a:avLst/>
          </a:prstGeom>
          <a:solidFill>
            <a:srgbClr val="FCEB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4897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2951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less for the same food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55648" y="2752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direct to the farm cuts the cost of what a kitchen is already buying.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6236208" y="20574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331720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48" y="248972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3488" y="22951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where it's from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333488" y="2752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farm, not a faceless supplier — full provenance on every item.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658368" y="397764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8" y="440996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2153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Fresher, because it's direct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55648" y="46725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stops between the farm and the pass means a better product.</a:t>
            </a:r>
            <a:endParaRPr lang="en-US" sz="1280" dirty="0"/>
          </a:p>
        </p:txBody>
      </p:sp>
      <p:sp>
        <p:nvSpPr>
          <p:cNvPr id="19" name="Shape 14"/>
          <p:cNvSpPr/>
          <p:nvPr/>
        </p:nvSpPr>
        <p:spPr>
          <a:xfrm>
            <a:off x="6236208" y="397764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58368" cy="658368"/>
          </a:xfrm>
          <a:prstGeom prst="ellipse">
            <a:avLst/>
          </a:prstGeom>
          <a:solidFill>
            <a:srgbClr val="FCEBD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48" y="440996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42153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diners remember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333488" y="46725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oysters are from Tomales Bay” beats “from our supplier” every time.</a:t>
            </a:r>
            <a:endParaRPr lang="en-US" sz="1280" dirty="0"/>
          </a:p>
        </p:txBody>
      </p:sp>
      <p:sp>
        <p:nvSpPr>
          <p:cNvPr id="24" name="Text 18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rebuilds the middleman's job.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middleman solved real problems — stock, trust, grading, delivery, invoices, payment. Agripals rebuilds each one as software and messaging, so the markup can disappear without the reliability disappearing too.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3063240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32212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3026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intelligence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55648" y="34838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photos into products, grades, quantities and buying patterns.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236208" y="2788920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92240" y="3063240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48" y="322124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33488" y="3026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matching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333488" y="348386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closest real source that can supply the item reliably.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658368" y="4654296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14400" y="4928616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8" y="5086624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55648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channel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55648" y="5349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 text and in-app chat — no software to learn.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6236208" y="4654296"/>
            <a:ext cx="525780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92240" y="4928616"/>
            <a:ext cx="658368" cy="658368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48" y="5086624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3488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invoice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333488" y="5349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delivery, confirms quality, releases payment and closes the loop.</a:t>
            </a:r>
            <a:endParaRPr lang="en-US" sz="1280" dirty="0"/>
          </a:p>
        </p:txBody>
      </p:sp>
      <p:sp>
        <p:nvSpPr>
          <p:cNvPr id="25" name="Text 19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just evaporated.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 doubled the price because they owned the last mile and forced chefs onto software they hated. AI erases that moat — and we run it all online, with no trucks or warehouses of our own.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become orders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the messy back-and-forth of texts into clean, structured orders — like an Uber Eats ticket. No portals.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logistics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dispatch and tracking, automated end-to-end — with no trucks or warehouses of our own.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compounds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sharpens prices and matches. The network's edge widens with volume.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in. Farm-direct out.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does the entire job a room full of wholesalers used to — instantly, and for a fraction of the 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it your order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your menu or type what you need. The AI reads it and turns it into a clean, structured order.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sources direct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farm and the dock, agrees the price, and strips the markup out of the chain in milliseconds.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routes the last mile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dispatched and tracked autonomously — the exact edge wholesalers used to hold.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WITHOUT THE MIDDLEMAN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replaces the broker's handshake.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8408" y="2697480"/>
            <a:ext cx="822960" cy="822960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8949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Farm-side photos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78408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photographs a handful of product and a graded sample before sealing the shipment.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54296" y="2697480"/>
            <a:ext cx="822960" cy="822960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8949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Delivery-side recheck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54296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 photographs the same on arrival, so Agripals can compare quality and consistency.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697480"/>
            <a:ext cx="822960" cy="822960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28949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on match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0184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is paid when delivery and grading are confirmed — no net-30 invoice chasing.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city. One product. One clear proof point.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oysters — direct from Northern California farms into SF restaurants — then expand the same rails outward.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oysters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oyster farmers, 10–20 restaurants, one reliable cold-chain logistics partner.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direct seafood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Shrimp, lobster, crab and other gradable products where freshness and provenance matter.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import / export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exporters and importers too, with AI coordinating documents, routing and compliance.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food moves: 5% of every order.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aligned economics. Agripals takes a small cut of everything it moves — and the cheaper it makes food, the more that moves.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every order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 takes ~5% of each order's value (GMV). No subscription — we only earn when the kitchen saves.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float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finance the middle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don't want to carry credit. We pay them on delivery and bill kitchens on terms — earning a financing margin.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compounds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sharpens pricing, grading and demand — better matches over time, and a moat that widens with volume.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$330B market, hidden behind the middlemen.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restaurants buy roughly $330B of food a year. Agripals earns ~5% of everything that moves direct — a multi-billion-dollar prize as the rails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$330B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restaurant food purchasing: ~$1.1T of sales at ~30% food cost. About $16B a year to us at a 5% take.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34256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334256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2856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&amp; seafood for US full-service and independent kitchens — the farm-direct-suited spend. ~$2.5B a year at 5%.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2880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7352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10144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8010144" y="4434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4846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spend across ~4,500 SF Bay Area restaurants — our beachhead. ~$25M a year at 5%, before LA and beyond.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finally makes this cheap enough to run.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messy menus, infer buying patterns, write messages, route requests, compare quotes and monitor handoffs. Farmers don't need a portal. Chefs don't need procurement software. They just send a text.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17352A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420624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04872" y="4206240"/>
            <a:ext cx="873252" cy="566928"/>
          </a:xfrm>
          <a:prstGeom prst="roundRect">
            <a:avLst>
              <a:gd name="adj" fmla="val 50000"/>
            </a:avLst>
          </a:prstGeom>
          <a:solidFill>
            <a:srgbClr val="17352A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04872" y="4206240"/>
            <a:ext cx="87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34156" y="4206240"/>
            <a:ext cx="1490472" cy="566928"/>
          </a:xfrm>
          <a:prstGeom prst="roundRect">
            <a:avLst>
              <a:gd name="adj" fmla="val 50000"/>
            </a:avLst>
          </a:prstGeom>
          <a:solidFill>
            <a:srgbClr val="17352A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34156" y="420624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scan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80660" y="4206240"/>
            <a:ext cx="1860804" cy="566928"/>
          </a:xfrm>
          <a:prstGeom prst="roundRect">
            <a:avLst>
              <a:gd name="adj" fmla="val 50000"/>
            </a:avLst>
          </a:prstGeom>
          <a:solidFill>
            <a:srgbClr val="17352A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80660" y="4206240"/>
            <a:ext cx="18608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97496" y="4206240"/>
            <a:ext cx="1984248" cy="566928"/>
          </a:xfrm>
          <a:prstGeom prst="roundRect">
            <a:avLst>
              <a:gd name="adj" fmla="val 50000"/>
            </a:avLst>
          </a:prstGeom>
          <a:solidFill>
            <a:srgbClr val="17352A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97496" y="4206240"/>
            <a:ext cx="198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(soon)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assistant. Your whole back office.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 quietly runs each part of the job — sourcing and orders today, money and savings next.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relaxed-dazzling-mccarthy/mnt/Agripals/assets/agripal-mascot/transparent-sizes/agripal-green-transparent-10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2608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2928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871216" y="36118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CEFE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871216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52928" y="40873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sourcing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4128" y="48006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menu, finds the farm, lines up quotes and coordinates every delivery. The logistics, handled.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36208" y="251460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1" descr="/sessions/relaxed-dazzling-mccarthy/mnt/Agripals/assets/agripal-mascot/eddie/eddie-amber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926080"/>
            <a:ext cx="1737360" cy="1737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30768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449056" y="36118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CEBD8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449056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6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30768" y="40873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savings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601968" y="48006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exactly how much a kitchen is saving, stays on top of payments and invoices, and keeps every dollar working.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GAME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for food.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world of AI agents, every restaurant, farm, wholesaler and logistics provider can have software acting on its behalf. Agripals becomes the food-specific endpoint those agents call — to source, quote, place, grade, track and confirm orders from anywhere to anywhere.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297680"/>
            <a:ext cx="1517904" cy="548640"/>
          </a:xfrm>
          <a:prstGeom prst="roundRect">
            <a:avLst>
              <a:gd name="adj" fmla="val 20000"/>
            </a:avLst>
          </a:prstGeom>
          <a:solidFill>
            <a:srgbClr val="10271F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429768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send_rfq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14016" y="4297680"/>
            <a:ext cx="1915668" cy="548640"/>
          </a:xfrm>
          <a:prstGeom prst="roundRect">
            <a:avLst>
              <a:gd name="adj" fmla="val 20000"/>
            </a:avLst>
          </a:prstGeom>
          <a:solidFill>
            <a:srgbClr val="10271F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14016" y="4297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check_stock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67428" y="4297680"/>
            <a:ext cx="1650492" cy="548640"/>
          </a:xfrm>
          <a:prstGeom prst="roundRect">
            <a:avLst>
              <a:gd name="adj" fmla="val 20000"/>
            </a:avLst>
          </a:prstGeom>
          <a:solidFill>
            <a:srgbClr val="10271F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7428" y="4297680"/>
            <a:ext cx="1650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get_quote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55664" y="4297680"/>
            <a:ext cx="1783080" cy="548640"/>
          </a:xfrm>
          <a:prstGeom prst="roundRect">
            <a:avLst>
              <a:gd name="adj" fmla="val 20000"/>
            </a:avLst>
          </a:prstGeom>
          <a:solidFill>
            <a:srgbClr val="10271F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55664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grade_item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76488" y="4297680"/>
            <a:ext cx="2578608" cy="548640"/>
          </a:xfrm>
          <a:prstGeom prst="roundRect">
            <a:avLst>
              <a:gd name="adj" fmla="val 20000"/>
            </a:avLst>
          </a:prstGeom>
          <a:solidFill>
            <a:srgbClr val="10271F"/>
          </a:solidFill>
          <a:ln w="12700">
            <a:solidFill>
              <a:srgbClr val="2C564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76488" y="429768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C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confirm_delivery</a:t>
            </a:r>
            <a:endParaRPr lang="en-US" sz="1350" dirty="0"/>
          </a:p>
        </p:txBody>
      </p:sp>
      <p:pic>
        <p:nvPicPr>
          <p:cNvPr id="15" name="Image 0" descr="/sessions/relaxed-dazzling-mccarthy/mnt/Agripals/assets/agripal-mascot/transparent-sizes/agripal-green-transparent-10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1554480" cy="1554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restaurants, farms and diners.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78408" y="2697480"/>
            <a:ext cx="822960" cy="822960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28949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greener routes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8408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redundant handoffs, less cold-chain waste, less food travelling in circles.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54296" y="2697480"/>
            <a:ext cx="822960" cy="822960"/>
          </a:xfrm>
          <a:prstGeom prst="ellipse">
            <a:avLst/>
          </a:prstGeom>
          <a:solidFill>
            <a:srgbClr val="DCEFE1"/>
          </a:solidFill>
          <a:ln/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8949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money reaches the farm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54296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family-run farms keep more of the value they created.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233172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30184" y="2697480"/>
            <a:ext cx="822960" cy="822960"/>
          </a:xfrm>
          <a:prstGeom prst="ellipse">
            <a:avLst/>
          </a:prstGeom>
          <a:solidFill>
            <a:srgbClr val="FCEBD8"/>
          </a:solidFill>
          <a:ln/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28949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values story diners trust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30184" y="4206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sourcing becomes something guests can understand, trust and remember.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GAME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is the wedge. The sector is the prize.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million US farms — plus the kitchens they feed — don't use apps or portals. But they all text. Once they're on Agripals, we can broker everything they buy, at the moment they need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insurance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$625B in US farm debt; $6B+ in annual crop-insurance premiums. Agripals can originate and broker both — by text.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equipment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~$36B a year in US crop inputs — seed, fertiliser, crop protection — plus equipment finance. The right offer, at the moment of need.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markets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bookkeeping and market access — today's spot price and where to sell. The whole back office, one text away.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7A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text is a data point no one else has.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chef “how much stock do you have?” and a farmer “what are you harvesting?” — and we know real-time supply and demand across the country. That's data the whole financial system wants.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78408" y="3090672"/>
            <a:ext cx="777240" cy="777240"/>
          </a:xfrm>
          <a:prstGeom prst="ellipse">
            <a:avLst/>
          </a:prstGeom>
          <a:solidFill>
            <a:srgbClr val="2E85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92808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supply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8408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and harvest data by region — how much corn, wheat or oysters is coming, before anyone else knows.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54296" y="3090672"/>
            <a:ext cx="777240" cy="777240"/>
          </a:xfrm>
          <a:prstGeom prst="ellipse">
            <a:avLst/>
          </a:prstGeom>
          <a:solidFill>
            <a:srgbClr val="37A27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54296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68696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68696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 sell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54296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stock flows and price spikes, and sell it to lenders, insurers and commodity traders. Ag analytics is a $7.5B market growing ~15% a year.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10144" y="274320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3A2E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30184" y="3090672"/>
            <a:ext cx="777240" cy="777240"/>
          </a:xfrm>
          <a:prstGeom prst="ellipse">
            <a:avLst/>
          </a:prstGeom>
          <a:solidFill>
            <a:srgbClr val="4CC49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30184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44584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584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leads, mined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2519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surfaces who needs a loan, cover or inputs next — a self-feeding pipeline for the services on the last slide.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194560"/>
            <a:ext cx="6583680" cy="6583680"/>
          </a:xfrm>
          <a:prstGeom prst="ellipse">
            <a:avLst/>
          </a:prstGeom>
          <a:solidFill>
            <a:srgbClr val="12261E"/>
          </a:solidFill>
          <a:ln/>
        </p:spPr>
      </p:sp>
      <p:pic>
        <p:nvPicPr>
          <p:cNvPr id="3" name="Image 0" descr="/sessions/relaxed-dazzling-mccarthy/mnt/Agripals/assets/agripal-mascot/transparent-sizes/agripal-green-transparent-10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0" y="196596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photo.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food system.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297680" y="38862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markup. Restore the provenance. Take the true cost of food from 2 to 1 to 0 — and become the endpoint every food agent calls.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29768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Agripals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rhys.coombes@gmail.com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Agripals — Investor Deck</dc:title>
  <dc:subject>PptxGenJS Presentation</dc:subject>
  <dc:creator>Agripals</dc:creator>
  <cp:lastModifiedBy>Agripals</cp:lastModifiedBy>
  <cp:revision>1</cp:revision>
  <dcterms:created xsi:type="dcterms:W3CDTF">2026-07-09T06:47:16Z</dcterms:created>
  <dcterms:modified xsi:type="dcterms:W3CDTF">2026-07-09T06:47:16Z</dcterms:modified>
</cp:coreProperties>
</file>